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Problem Statement ID: SIH26101</a:t>
            </a: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Problem Statement Title: Karmayogi Statistical Intelligence (KSI) — AI-Powered Competency Modeling for MoSPI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Theme: Smart Governance &amp; Capacity Building (Mission Karmayogi Bharat)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PS Category: Software (Air-Gapped Sovereign AI)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  <a:defRPr b="1">
                <a:solidFill>
                  <a:srgbClr val="1D5BA5"/>
                </a:solidFill>
              </a:defRPr>
            </a:pPr>
            <a:r>
              <a:t>Team Name: CodeVanta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t>PROPOSED SOLUTION: KARMAYOGI STATISTICAL INTELLIGENCE (KSI)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t>Objective: Transitioning MoSPI from 'Rule-based' to 'Role-based' Competency Governance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t>• Deterministic Vector Gap Analysis: Models officer proficiency across 4 canonical domains against statutory benchmarks using exact L2 Euclidean distance.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t>• Deficit-Prioritized iGOT Pathways: Dynamic recommendation engine sorting accredited NSSTA/MeitY modules strictly by highest operational deficit.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t>• Air-Gapped Assessment Synthesizer: Native PyMuPDF parser + local LLM pipeline synthesizing Bloom-tiered MCQs directly from Gazette notifications.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t>• Sovereign Cadre Governance: 100% on-premise execution guaranteeing DPDP Act 2023 compliance, paired with Directorate capability heatmaps (NAD, FOD, PSD).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>
                <a:solidFill>
                  <a:srgbClr val="1D5BA5"/>
                </a:solidFill>
              </a:defRPr>
            </a:pPr>
            <a:r>
              <a:t>CodeVanta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31520" y="1645920"/>
            <a:ext cx="4754880" cy="4389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t>• Core Stack: React 18 + Vite (Official iGOT Bharat Theme) | FastAPI Async REST | SQLite3 disk persistence (ksi_master.db).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t>• Sovereign AI Engine: Local Ollama (qwen2.5:7b-instruct) pinned with 12s timeout &amp; max_retries=0 anti-freeze guard. Zero external cloud API calls.</a:t>
            </a:r>
          </a:p>
          <a:p>
            <a:r>
              <a:t>• Vector Algebra: Exact Euclidean Deficit L2 = sqrt( sum( max(0, Benchmark_i - Score_i)^2 ) ).</a:t>
            </a:r>
          </a:p>
          <a:p>
            <a:r>
              <a:t>• Operational State: Enterprise web portal verified and live on client port 5173 (React/Vite) backed by async REST endpoints on port 8000 (FastAPI).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>
                <a:solidFill>
                  <a:srgbClr val="1D5BA5"/>
                </a:solidFill>
              </a:defRPr>
            </a:pPr>
            <a:r>
              <a:t>CodeVanta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workflow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645920"/>
            <a:ext cx="6035040" cy="45462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FEASIBILITY, RISK ANALYSIS &amp; MITIGATION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>
                <a:solidFill>
                  <a:srgbClr val="1D5BA5"/>
                </a:solidFill>
              </a:defRPr>
            </a:pPr>
            <a:r>
              <a:t>CodeVanta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410" name="Table 17409"/>
          <p:cNvGraphicFramePr>
            <a:graphicFrameLocks noGrp="1"/>
          </p:cNvGraphicFramePr>
          <p:nvPr/>
        </p:nvGraphicFramePr>
        <p:xfrm>
          <a:off x="731520" y="1645920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931920"/>
                <a:gridCol w="4572000"/>
              </a:tblGrid>
              <a:tr h="10287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 anchor="ctr">
                    <a:solidFill>
                      <a:srgbClr val="1D5B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Potential Risk / Bottleneck</a:t>
                      </a:r>
                    </a:p>
                  </a:txBody>
                  <a:tcPr anchor="ctr">
                    <a:solidFill>
                      <a:srgbClr val="1D5B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Engineered Mitigation Strategy</a:t>
                      </a:r>
                    </a:p>
                  </a:txBody>
                  <a:tcPr anchor="ctr">
                    <a:solidFill>
                      <a:srgbClr val="1D5BA5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D5BA5"/>
                          </a:solidFill>
                        </a:defRPr>
                      </a:pPr>
                      <a:r>
                        <a:t>Deployment Feasibility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Hardware resource constraints on edge field devices without discrete GPUs.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Engineered for commodity CPUs using quantized 7B model + zero-latency precomputed MD5 hash demo caching.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D5BA5"/>
                          </a:solidFill>
                        </a:defRPr>
                      </a:pPr>
                      <a:r>
                        <a:t>Inference Stability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Local LLM latency spikes causing HTTP timeouts and interface freezes.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Calibrated 12.0s ceiling with max_retries=0 fail-fast protection and deterministic pedagogical MCQ fallback generator.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D5BA5"/>
                          </a:solidFill>
                        </a:defRPr>
                      </a:pPr>
                      <a:r>
                        <a:t>Data Sovereignty &amp; Legal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Transmission of MoSPI employee records to third-party cloud APIs violates DPDP 2023.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Zero-leak air-gapped architecture. All vector calculations, scores, and dossier embeddings execute strictly on localhost.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INSTITUTIONAL IMPACT &amp; NATIONAL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>• Direct Beneficiaries: Empowers SSS and ISS officers across FOD, NAD, and PSD divisions.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>• Objective Career Pathways: Replaces subjective annual performance appraisals with real-time, empirical competency telemetry and mathematical gap metrics.</a:t>
            </a:r>
          </a:p>
          <a:p>
            <a:r>
              <a:t>• Rapid Curriculum Dissemination: Reduces lag between statutory revisions (e.g., SNA 2008 base revisions, GCF updates) and field readiness from months to seconds via automated circular parsing.</a:t>
            </a:r>
          </a:p>
          <a:p>
            <a:r>
              <a:t>• Strategic Cadre Allocation: Provides Cadre Controlling Authorities with Directorate heatmaps to identify systemic deficits and dispatch targeted capacity-building directives.</a:t>
            </a:r>
          </a:p>
          <a:p>
            <a:r>
              <a:t>• Viksit Bharat Alignment: Directly institutionalizes Mission Karmayogi's mandate for data-driven, role-competent public administration.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>
                <a:solidFill>
                  <a:srgbClr val="1D5BA5"/>
                </a:solidFill>
              </a:defRPr>
            </a:pPr>
            <a:r>
              <a:t>CodeVanta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t>STATUTORY REFERENCES &amp; RESEARCH WORK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t>• Mission Karmayogi Bharat (DoPT / CBC): Framework of Roles, Activities, and Competencies (FRAC) Dictionary and NPCSCB guidelines.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t>• MoSPI / NSSTA Curriculum: Training Policy and Assessment Compendium (TPAC) and induction course syllabi for Junior Statistical Officers (JSO).</a:t>
            </a:r>
          </a:p>
          <a:p>
            <a:r>
              <a:t>• United Nations Statistics Division: System of National Accounts (SNA 2008) guidelines on Gross Value Added (GVA), deflators, and input-output tables.</a:t>
            </a:r>
          </a:p>
          <a:p>
            <a:r>
              <a:t>• Digital Personal Data Protection Act (DPDP 2023): Statutory provisions governing sovereign employee data localization, confidentiality, and consent boundaries.</a:t>
            </a:r>
          </a:p>
          <a:p>
            <a:r>
              <a:t>• Pedagogical Grounding: Bloom's Revised Taxonomy (Anderson &amp; Krathwohl, 2001) for automated multi-tier psychometric question generation.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>
                <a:solidFill>
                  <a:srgbClr val="1D5BA5"/>
                </a:solidFill>
              </a:defRPr>
            </a:pPr>
            <a:r>
              <a:t>CodeVanta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